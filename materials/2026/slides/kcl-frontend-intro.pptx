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65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0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73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5DE2-3995-DD3C-774A-A451B8A6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A2A327-AD40-A5F4-EA4E-676C4C48C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CDCE8-37C8-7FCE-EBC0-2F4BBE69D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B17AB-E87F-3C0E-3C55-46FB222218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255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766E">
              <a:alpha val="25000"/>
            </a:srgbClr>
          </a:solidFill>
          <a:ln w="12700">
            <a:solidFill>
              <a:srgbClr val="0F766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</a:rPr>
              <a:t>KCL Hack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フロントエンド入門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FBF1"/>
                </a:solidFill>
              </a:rPr>
              <a:t>コンポーネント × Props × State で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CFBF1"/>
                </a:solidFill>
              </a:rPr>
              <a:t>KCL Shop を作ろう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今日作るもの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4F4A"/>
                </a:solidFill>
              </a:rPr>
              <a:t>KCL Shop を完成させる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2 / 18</a:t>
            </a:r>
            <a:endParaRPr lang="en-US" sz="1000" dirty="0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665F125E-B2EE-6010-C56F-BC4AD3F7A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238" y="1451806"/>
            <a:ext cx="5777523" cy="34402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今日の流れ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5ステップで完成させる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627632" cy="32004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627632" cy="59436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F4A"/>
                </a:solidFill>
              </a:rPr>
              <a:t>コンポーネント分割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ショップを部品に分解する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93392" y="237744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2084832" y="1417320"/>
            <a:ext cx="1627632" cy="32004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2084832" y="1417320"/>
            <a:ext cx="1627632" cy="594360"/>
          </a:xfrm>
          <a:prstGeom prst="roundRect">
            <a:avLst>
              <a:gd name="adj" fmla="val 1538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084832" y="1463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76272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F4A"/>
                </a:solidFill>
              </a:rPr>
              <a:t>型とデータを定義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76272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商品データの形を決める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12464" y="237744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3803904" y="1417320"/>
            <a:ext cx="1627632" cy="32004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803904" y="1417320"/>
            <a:ext cx="1627632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803904" y="1463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895344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F4A"/>
                </a:solidFill>
              </a:rPr>
              <a:t>Props でデータを流す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95344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ContainerからCardへ渡す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31536" y="237744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522976" y="1417320"/>
            <a:ext cx="1627632" cy="32004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5522976" y="1417320"/>
            <a:ext cx="1627632" cy="594360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522976" y="1463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614416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F4A"/>
                </a:solidFill>
              </a:rPr>
              <a:t>useState で状態管理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14416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検索欄と絞り込み機能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50608" y="2377440"/>
            <a:ext cx="914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242048" y="1417320"/>
            <a:ext cx="1627632" cy="32004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7242048" y="1417320"/>
            <a:ext cx="1627632" cy="594360"/>
          </a:xfrm>
          <a:prstGeom prst="roundRect">
            <a:avLst>
              <a:gd name="adj" fmla="val 15385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7242048" y="14630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333488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4F4A"/>
                </a:solidFill>
              </a:rPr>
              <a:t>useEffect で連動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33488" y="2697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状態変化に反応して動く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  コンポーネント分割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ショップを「部品」に分解する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12064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なぜ分割するの？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120640" y="187452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16636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715000" y="1938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再利用できる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15000" y="2258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同じCardが何枚でも使える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283464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516636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715000" y="2898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修正が楽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1500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Card直せば全部に反映される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3794760"/>
            <a:ext cx="3657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5166360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715000" y="3858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4A"/>
                </a:solidFill>
              </a:rPr>
              <a:t>チーム開発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15000" y="4178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担当を分けて作れる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4 / 18</a:t>
            </a:r>
            <a:endParaRPr lang="en-US" sz="1000" dirty="0"/>
          </a:p>
        </p:txBody>
      </p:sp>
      <p:pic>
        <p:nvPicPr>
          <p:cNvPr id="45" name="図 44">
            <a:extLst>
              <a:ext uri="{FF2B5EF4-FFF2-40B4-BE49-F238E27FC236}">
                <a16:creationId xmlns:a16="http://schemas.microsoft.com/office/drawing/2014/main" id="{FC3F158E-D10C-923E-89E2-2D4655F27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1" y="1269638"/>
            <a:ext cx="5038969" cy="37792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  型を定義する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商品データの「約束」を先に決める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33832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型 (type) とは？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68680" y="19751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データの「形」を定義する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578608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68680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商品には必ず name と price がある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145536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id は string、price は number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712464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68680" y="3675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型が合わないとエラーで教えてくれる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02336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864608" y="1389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src/types/product.ts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1645920"/>
            <a:ext cx="3794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type Product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      string;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    string;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price:    number;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category: string;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stock:    number;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rating:   number;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imageUrl: string;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  データを用意する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型に合わせてデータを書く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937760" cy="3474720"/>
          </a:xfrm>
          <a:prstGeom prst="roundRect">
            <a:avLst>
              <a:gd name="adj" fmla="val 2632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93776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75488" y="13898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src/data/products.ts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src/data/products.ts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products: Product[]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      "gadget-speaker",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    "ポケットスピーカー",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price:    6800,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category: "ガジェット",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stock:    8,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rating:   4.4,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imageUrl: "https://...",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他の商品を追加していく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ポイント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7150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17920" y="20574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型どおりに書く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251460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name: string → </a:t>
            </a:r>
            <a:r>
              <a:rPr lang="en-US" sz="1100" dirty="0" err="1">
                <a:solidFill>
                  <a:srgbClr val="6B7280"/>
                </a:solidFill>
              </a:rPr>
              <a:t>文字列</a:t>
            </a:r>
            <a:r>
              <a:rPr lang="ja-JP" altLang="en-US" sz="1100" dirty="0"/>
              <a:t>　</a:t>
            </a:r>
            <a:r>
              <a:rPr lang="en-US" sz="1100" dirty="0">
                <a:solidFill>
                  <a:srgbClr val="6B7280"/>
                </a:solidFill>
              </a:rPr>
              <a:t>price: number → 数値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292608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7150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3063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配列に並べる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352044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Product[] は「商品の配列」という型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3931920"/>
            <a:ext cx="32004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7150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17920" y="4069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typecheck を通す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15000" y="4526280"/>
            <a:ext cx="2926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npm run typecheck でエラー確認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  Propsでデータを流す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Container → Card の流れ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200400" cy="3474720"/>
          </a:xfrm>
          <a:prstGeom prst="roundRect">
            <a:avLst>
              <a:gd name="adj" fmla="val 4286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F4A"/>
                </a:solidFill>
              </a:rPr>
              <a:t>ProductList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4F4A"/>
                </a:solidFill>
              </a:rPr>
              <a:t>(Container)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= [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商品データ配列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products.map((product) =&gt; { ... })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3273552"/>
            <a:ext cx="91440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737360" y="3273552"/>
            <a:ext cx="91440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3566160" y="3017520"/>
            <a:ext cx="45720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393192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766E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1371600"/>
            <a:ext cx="4480560" cy="3474720"/>
          </a:xfrm>
          <a:prstGeom prst="roundRect">
            <a:avLst>
              <a:gd name="adj" fmla="val 2632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4297680" y="1371600"/>
            <a:ext cx="448056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4407408" y="13898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src/components/ui/ProductCard.tsx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34840" y="1645920"/>
            <a:ext cx="4251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Props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product: Product;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ProductCard(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product }: Props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&lt;img src={product.imageUrl}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&lt;span&gt;{product.name}&lt;/span&gt;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&lt;span&gt;{product.price}&lt;/span&gt;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7 / 18</a:t>
            </a:r>
            <a:endParaRPr lang="en-US" sz="1000" dirty="0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F3112645-6598-9E4A-ECC9-C7C6C43DC8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60" t="56983" r="55867" b="9516"/>
          <a:stretch>
            <a:fillRect/>
          </a:stretch>
        </p:blipFill>
        <p:spPr>
          <a:xfrm>
            <a:off x="1188916" y="3108960"/>
            <a:ext cx="1371208" cy="16828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  Props を理解する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Props = コンポーネントへの「入力」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関数と同じイメージ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ProductCard( product )  →  &lt;article&gt;...&lt;/article&gt;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402336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75488" y="2624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渡す側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渡す側 (ProductList)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&lt;ProductCard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key={product.id}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product={product}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606040"/>
            <a:ext cx="4023360" cy="2194560"/>
          </a:xfrm>
          <a:prstGeom prst="roundRect">
            <a:avLst>
              <a:gd name="adj" fmla="val 4167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2606040"/>
            <a:ext cx="402336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864608" y="26243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受け取る側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288036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受け取る側 (ProductCard)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Props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product: Product;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ProductCard({ product }: Props)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&lt;span&gt;{product.name}&lt;/span&gt;;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  mapで一覧表示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配列 → カードの配列 に変換する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products[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'a', name: '...' 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F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'b', name: '...' 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356616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4F4A"/>
                </a:solidFill>
                <a:latin typeface="Courier New" pitchFamily="34" charset="0"/>
                <a:cs typeface="Courier New" pitchFamily="34" charset="-120"/>
              </a:rPr>
              <a:t>・・・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3063240"/>
            <a:ext cx="54864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589020" y="29569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766E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94660" y="278892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2926080" y="28163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.map()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1325880"/>
            <a:ext cx="49377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393192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&lt;ProductCard /&gt; × 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9 / 18</a:t>
            </a:r>
            <a:endParaRPr lang="en-US" sz="1000" dirty="0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B090BF7F-44A1-4F83-DA7E-43A7961B19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6" t="57274" r="55650" b="9224"/>
          <a:stretch>
            <a:fillRect/>
          </a:stretch>
        </p:blipFill>
        <p:spPr>
          <a:xfrm>
            <a:off x="4316704" y="1891089"/>
            <a:ext cx="3985311" cy="23443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  map を書いてみる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products.map() でカードを並べる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697480"/>
          </a:xfrm>
          <a:prstGeom prst="roundRect">
            <a:avLst>
              <a:gd name="adj" fmla="val 3390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66928" y="13441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ProductList.tsx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8001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src/components/containers/ProductList.tsx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ProductList({ products }: Props)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className="product-list"&gt;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{products.map((product) =&gt;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&lt;ProductCard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key={product.id}    // ← Reactが見分けるために必要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product={product}   // ← 1件ずつCardに渡す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66928" y="4114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key={product.id}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" y="4457700"/>
            <a:ext cx="2606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Reactが各カードを区別するために必要。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重複しないidを使おう。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416052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424428" y="40919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product={product}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6602" y="4475890"/>
            <a:ext cx="2811780" cy="84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型Productの商品1件をPropsとして渡す。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ProductCardはこれを受け取って描画する。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416052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309360" y="40919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.map()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4475890"/>
            <a:ext cx="2331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配列の各要素を変換する。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for文より読みやすく、JSXに書ける。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  useState — 状態管理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画面が「覚えている」値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</a:rPr>
              <a:t>❌ 普通の変数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3749040" cy="2057400"/>
          </a:xfrm>
          <a:prstGeom prst="roundRect">
            <a:avLst>
              <a:gd name="adj" fmla="val 4444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12648" y="19842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動かない例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searchTerm = "";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handleChange(e)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searchTerm = e.target.value;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← 画面は更新されない！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</a:rPr>
              <a:t>変数を変えても画面が再描画されない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534"/>
                </a:solidFill>
              </a:rPr>
              <a:t>✅ useState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92040" y="1965960"/>
            <a:ext cx="3749040" cy="2057400"/>
          </a:xfrm>
          <a:prstGeom prst="roundRect">
            <a:avLst>
              <a:gd name="adj" fmla="val 4444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892040" y="1965960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001768" y="19842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動く例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240280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[searchTerm, setSearchTerm]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useState("");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handleChange(e)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setSearchTerm(e.target.value);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← 自動で再描画される！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</a:rPr>
              <a:t>setXxx() を呼ぶと画面が自動更新される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  useState — 検索欄を作る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入力値を state で管理する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02920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75488" y="13441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src/app/page.tsx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src/app/page.tsx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Home()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[今の値, 更新関数] = useState(初期値)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[searchTerm, setSearchTerm] = useState("");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value={searchTerm}      // 今の値を表示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onChange={(e) =&gt;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setSearchTerm(        // 変化したら更新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e.target.value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F766E"/>
                </a:solidFill>
              </a:rPr>
              <a:t>仕組み図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18288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623560" y="1874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useState("")  →  searchTerm = ""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95160" y="2468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65176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D4F4A"/>
          </a:solidFill>
          <a:ln w="12700">
            <a:solidFill>
              <a:srgbClr val="0D4F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62356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ユーザーが入力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onChange 発火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95160" y="3291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35204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623560" y="3566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setSearchTerm(入力値)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re-render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95160" y="4160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43434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623560" y="4389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searchTerm = "新しい値"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画面が更新！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4  複数の state を使う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ja-JP" altLang="en-US" sz="2600" b="1">
                <a:solidFill>
                  <a:srgbClr val="0D4F4A"/>
                </a:solidFill>
              </a:rPr>
              <a:t>検索条件と表示結果を分けて管理する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206240" cy="3017520"/>
          </a:xfrm>
          <a:prstGeom prst="roundRect">
            <a:avLst>
              <a:gd name="adj" fmla="val 3030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20624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75488" y="13441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page.tsx — 2つのstate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977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[searchTerm, setSearchTerm]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useState("");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[selectedCategory, setSelectedCategory]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useState("すべて");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</a:t>
            </a:r>
            <a:r>
              <a:rPr lang="en-US" sz="11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filteredProducts</a:t>
            </a: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setFilteredProducts</a:t>
            </a: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</a:t>
            </a:r>
          </a:p>
          <a:p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&lt;Product[]&gt;(products);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02336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864608" y="13441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productFilters.ts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94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src/utils/productFilters.ts</a:t>
            </a:r>
            <a:endParaRPr lang="en-US" sz="900" dirty="0"/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filterProducts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products: Product[],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searchTerm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string,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selectedCategory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string,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products.filter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((product) =&gt; {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matchesSearch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product.name.includes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searchTerm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||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product.description.includes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searchTerm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  <a:p>
            <a:endParaRPr lang="en-US" sz="900" dirty="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matchesCategory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selectedCategory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"</a:t>
            </a:r>
            <a:r>
              <a:rPr lang="ja-JP" altLang="en-US" sz="9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すべて</a:t>
            </a:r>
            <a:r>
              <a:rPr lang="en-US" altLang="ja-JP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||</a:t>
            </a:r>
          </a:p>
          <a:p>
            <a:r>
              <a:rPr lang="en-US" altLang="ja-JP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product.category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selectedCategory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endParaRPr lang="en-US" sz="900" dirty="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matchesSearch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matchesCategory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448056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274320" y="44988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searchTerm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4617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11680" y="448056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011680" y="44988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selectedCategory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4617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49040" y="448056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3749040" y="44988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filterProducts()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呼び出し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57800" y="4617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448056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0" y="44988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filtered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Products[]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95160" y="4617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448056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7223760" y="4498848"/>
            <a:ext cx="1508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画面に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表示 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  useEffect — 状態変化に反応する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「○○が変わったら△△する」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useEffect の基本構造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2286000"/>
          </a:xfrm>
          <a:prstGeom prst="roundRect">
            <a:avLst>
              <a:gd name="adj" fmla="val 4000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75488" y="17556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CD34D"/>
                </a:solidFill>
              </a:rPr>
              <a:t>useEffect の基本形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8183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stateが変化したときに実行したい処理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setFilteredProducts(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filterProducts(products, searchTerm, selectedCategory)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[searchTerm, selectedCategory]);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↑ この配列の値が変わったら実行される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(依存配列 / dependency array)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16052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029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監視する値を指定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754880"/>
            <a:ext cx="24231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依存配列 [] の中に書いた値が変わると実行される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416052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3832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8620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副作用の置き場所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4754880"/>
            <a:ext cx="24231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フィルタ更新・保存・APIコールなど表示以外の処理を書く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416052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263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1️⃣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6560" y="4297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4F4A"/>
                </a:solidFill>
              </a:rPr>
              <a:t>[] が空の場合は?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4754880"/>
            <a:ext cx="242316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空配列にすると「マウント時1回だけ」実行される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5  useState vs useEffect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2つの違いを整理する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useState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「値を覚える」フック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77240" y="23408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入力値 (searchTerm)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77240" y="2871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選択中カテゴリ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38144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77240" y="3401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カート中の商品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77724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お気に入りリスト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402336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4754880" y="132588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4846320" y="1371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useEffect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「変化に反応する」フック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23774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166360" y="23408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検索結果の更新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9077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166360" y="2871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localStorage への保存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43814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5166360" y="3401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APIリクエスト送信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96849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516636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4A"/>
                </a:solidFill>
              </a:rPr>
              <a:t>タブタイトルの変更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まとめ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コードの流れを全部つなぐ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型定義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product.ts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データの約束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71800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66E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337560" y="1426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データ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products.ts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商品配列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965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66E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137160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080760" y="137160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172200" y="1426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🧩  Component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ProductCard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ProductList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1546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11480" y="315468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02920" y="3209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Props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Container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→ Card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7180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66E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46120" y="31546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3246120" y="315468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3337560" y="3209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 useState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検索/絞り込み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の値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0644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766E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80760" y="315468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080760" y="315468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172200" y="32095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useEffect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状態変化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4F4A"/>
                </a:solidFill>
              </a:rPr>
              <a:t>に反応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D574-85F8-307D-39B7-1321ECA0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1EA3A7-0BAC-1434-798D-8EB871C0A8BF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827BAB-C1AA-FC24-9838-069FF0C07644}"/>
              </a:ext>
            </a:extLst>
          </p:cNvPr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</a:rPr>
              <a:t>補足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15B21A0-9B17-487A-1068-A60CC043EF17}"/>
              </a:ext>
            </a:extLst>
          </p:cNvPr>
          <p:cNvSpPr/>
          <p:nvPr/>
        </p:nvSpPr>
        <p:spPr>
          <a:xfrm>
            <a:off x="-76875" y="793424"/>
            <a:ext cx="489163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D4F4A"/>
                </a:solidFill>
              </a:rPr>
              <a:t>「</a:t>
            </a:r>
            <a:r>
              <a:rPr lang="ja-JP" altLang="en-US" sz="2600" b="1">
                <a:solidFill>
                  <a:srgbClr val="0D4F4A"/>
                </a:solidFill>
              </a:rPr>
              <a:t>カードをクリックして詳細ページへ</a:t>
            </a:r>
            <a:r>
              <a:rPr lang="en-US" sz="2600" b="1" dirty="0">
                <a:solidFill>
                  <a:srgbClr val="0D4F4A"/>
                </a:solidFill>
              </a:rPr>
              <a:t>」</a:t>
            </a:r>
            <a:endParaRPr lang="en-US" sz="26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7373EE3-B212-FCB3-0637-6782B6CFEE64}"/>
              </a:ext>
            </a:extLst>
          </p:cNvPr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17 / 18</a:t>
            </a:r>
            <a:endParaRPr lang="en-US" sz="1000" dirty="0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1CF162F9-1DBC-2891-FA58-92D28002F718}"/>
              </a:ext>
            </a:extLst>
          </p:cNvPr>
          <p:cNvSpPr/>
          <p:nvPr/>
        </p:nvSpPr>
        <p:spPr>
          <a:xfrm>
            <a:off x="0" y="1431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F766E"/>
                </a:solidFill>
              </a:rPr>
              <a:t>動的URLの生成方法</a:t>
            </a:r>
            <a:endParaRPr lang="en-US" sz="1400" dirty="0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D1EBE23F-1F19-E46F-2777-BA26DC790E12}"/>
              </a:ext>
            </a:extLst>
          </p:cNvPr>
          <p:cNvSpPr/>
          <p:nvPr/>
        </p:nvSpPr>
        <p:spPr>
          <a:xfrm>
            <a:off x="4814762" y="521208"/>
            <a:ext cx="4206240" cy="4622292"/>
          </a:xfrm>
          <a:prstGeom prst="roundRect">
            <a:avLst>
              <a:gd name="adj" fmla="val 4000"/>
            </a:avLst>
          </a:prstGeom>
          <a:solidFill>
            <a:srgbClr val="1E2D2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5">
            <a:extLst>
              <a:ext uri="{FF2B5EF4-FFF2-40B4-BE49-F238E27FC236}">
                <a16:creationId xmlns:a16="http://schemas.microsoft.com/office/drawing/2014/main" id="{46885CDA-C5D7-FF56-2BC4-E31E11772823}"/>
              </a:ext>
            </a:extLst>
          </p:cNvPr>
          <p:cNvSpPr/>
          <p:nvPr/>
        </p:nvSpPr>
        <p:spPr>
          <a:xfrm>
            <a:off x="4814760" y="520156"/>
            <a:ext cx="4206241" cy="256032"/>
          </a:xfrm>
          <a:prstGeom prst="roundRect">
            <a:avLst>
              <a:gd name="adj" fmla="val 17857"/>
            </a:avLst>
          </a:prstGeom>
          <a:solidFill>
            <a:srgbClr val="0A1F1D"/>
          </a:solidFill>
          <a:ln w="12700">
            <a:solidFill>
              <a:srgbClr val="0A1F1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6">
            <a:extLst>
              <a:ext uri="{FF2B5EF4-FFF2-40B4-BE49-F238E27FC236}">
                <a16:creationId xmlns:a16="http://schemas.microsoft.com/office/drawing/2014/main" id="{182A1B00-B786-3660-38F0-CAFC54A7C13A}"/>
              </a:ext>
            </a:extLst>
          </p:cNvPr>
          <p:cNvSpPr/>
          <p:nvPr/>
        </p:nvSpPr>
        <p:spPr>
          <a:xfrm>
            <a:off x="4906201" y="5475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CD34D"/>
                </a:solidFill>
              </a:rPr>
              <a:t>動的URLの作り方</a:t>
            </a:r>
            <a:endParaRPr lang="en-US" sz="900" dirty="0"/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267BB85E-4218-B663-8B23-95FF6FC5E390}"/>
              </a:ext>
            </a:extLst>
          </p:cNvPr>
          <p:cNvSpPr/>
          <p:nvPr/>
        </p:nvSpPr>
        <p:spPr>
          <a:xfrm>
            <a:off x="4970210" y="793424"/>
            <a:ext cx="8183880" cy="442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/app/products/[id]/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900" dirty="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900" dirty="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ProductDetailPageProps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params: Promise&lt;{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string;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}&gt;;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</a:p>
          <a:p>
            <a:endParaRPr lang="en-US" sz="900" dirty="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async function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ProductDetailPage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params,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}: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ProductDetailPageProps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id } = await params;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product =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products.find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((item) =&gt;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item.id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=== id);</a:t>
            </a:r>
          </a:p>
          <a:p>
            <a:endParaRPr lang="en-US" sz="900" dirty="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(!product) {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&lt;main&gt;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&lt;h1&gt;</a:t>
            </a:r>
            <a:r>
              <a:rPr lang="ja-JP" altLang="en-US" sz="9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商品が見つかりませんでした</a:t>
            </a:r>
            <a:r>
              <a:rPr lang="en-US" altLang="ja-JP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h1&gt;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&lt;Link 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="/"&gt;</a:t>
            </a:r>
            <a:r>
              <a:rPr lang="ja-JP" altLang="en-US" sz="90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商品一覧に戻る</a:t>
            </a:r>
            <a:r>
              <a:rPr lang="en-US" altLang="ja-JP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Link&gt;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&lt;/main&gt;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</a:p>
          <a:p>
            <a:endParaRPr lang="en-US" sz="900" dirty="0">
              <a:solidFill>
                <a:srgbClr val="F1F5F9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&lt;h1&gt;{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product.name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}&lt;/h1&gt;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formatPrice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 err="1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product.price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)}&lt;/p&gt;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</a:p>
          <a:p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54F4D2ED-DC17-A83F-F8E5-388452E66A70}"/>
              </a:ext>
            </a:extLst>
          </p:cNvPr>
          <p:cNvSpPr/>
          <p:nvPr/>
        </p:nvSpPr>
        <p:spPr>
          <a:xfrm>
            <a:off x="122998" y="1742316"/>
            <a:ext cx="3383280" cy="3286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0D4F4A"/>
                </a:solidFill>
              </a:rPr>
              <a:t>ディレクトリ構造</a:t>
            </a:r>
            <a:br>
              <a:rPr lang="en-US" sz="1400" dirty="0">
                <a:solidFill>
                  <a:srgbClr val="0D4F4A"/>
                </a:solidFill>
              </a:rPr>
            </a:br>
            <a:r>
              <a:rPr lang="en-US" sz="1400" dirty="0" err="1">
                <a:solidFill>
                  <a:srgbClr val="0D4F4A"/>
                </a:solidFill>
              </a:rPr>
              <a:t>src</a:t>
            </a:r>
            <a:r>
              <a:rPr lang="en-US" sz="1400" dirty="0">
                <a:solidFill>
                  <a:srgbClr val="0D4F4A"/>
                </a:solidFill>
              </a:rPr>
              <a:t>/app/</a:t>
            </a:r>
          </a:p>
          <a:p>
            <a:r>
              <a:rPr lang="en-US" sz="1400" dirty="0">
                <a:solidFill>
                  <a:srgbClr val="0D4F4A"/>
                </a:solidFill>
              </a:rPr>
              <a:t>  products/</a:t>
            </a:r>
          </a:p>
          <a:p>
            <a:r>
              <a:rPr lang="en-US" sz="1400" dirty="0">
                <a:solidFill>
                  <a:srgbClr val="0D4F4A"/>
                </a:solidFill>
              </a:rPr>
              <a:t>    [id]/</a:t>
            </a:r>
          </a:p>
          <a:p>
            <a:r>
              <a:rPr lang="en-US" sz="1400" dirty="0">
                <a:solidFill>
                  <a:srgbClr val="0D4F4A"/>
                </a:solidFill>
              </a:rPr>
              <a:t>      </a:t>
            </a:r>
            <a:r>
              <a:rPr lang="en-US" sz="1400" dirty="0" err="1">
                <a:solidFill>
                  <a:srgbClr val="0D4F4A"/>
                </a:solidFill>
              </a:rPr>
              <a:t>page.tsx</a:t>
            </a:r>
            <a:br>
              <a:rPr lang="en-US" sz="1400" dirty="0">
                <a:solidFill>
                  <a:srgbClr val="0D4F4A"/>
                </a:solidFill>
              </a:rPr>
            </a:br>
            <a:br>
              <a:rPr lang="en-US" sz="1400" dirty="0">
                <a:solidFill>
                  <a:srgbClr val="0D4F4A"/>
                </a:solidFill>
              </a:rPr>
            </a:br>
            <a:r>
              <a:rPr lang="en-US" sz="1400" dirty="0">
                <a:solidFill>
                  <a:srgbClr val="0D4F4A"/>
                </a:solidFill>
              </a:rPr>
              <a:t>[id] </a:t>
            </a:r>
            <a:r>
              <a:rPr lang="ja-JP" altLang="en-US" sz="1400">
                <a:solidFill>
                  <a:srgbClr val="0D4F4A"/>
                </a:solidFill>
              </a:rPr>
              <a:t>の部分が</a:t>
            </a:r>
            <a:r>
              <a:rPr lang="en-US" sz="1400" dirty="0">
                <a:solidFill>
                  <a:srgbClr val="0D4F4A"/>
                </a:solidFill>
              </a:rPr>
              <a:t>URL</a:t>
            </a:r>
            <a:r>
              <a:rPr lang="ja-JP" altLang="en-US" sz="1400">
                <a:solidFill>
                  <a:srgbClr val="0D4F4A"/>
                </a:solidFill>
              </a:rPr>
              <a:t>によって変わる</a:t>
            </a:r>
          </a:p>
          <a:p>
            <a:endParaRPr lang="ja-JP" altLang="en-US" sz="1400">
              <a:solidFill>
                <a:srgbClr val="0D4F4A"/>
              </a:solidFill>
            </a:endParaRPr>
          </a:p>
          <a:p>
            <a:r>
              <a:rPr lang="en-US" altLang="ja-JP" sz="1400" dirty="0">
                <a:solidFill>
                  <a:srgbClr val="0D4F4A"/>
                </a:solidFill>
              </a:rPr>
              <a:t>/</a:t>
            </a:r>
            <a:r>
              <a:rPr lang="en-US" sz="1400" dirty="0">
                <a:solidFill>
                  <a:srgbClr val="0D4F4A"/>
                </a:solidFill>
              </a:rPr>
              <a:t>products/gadget-speaker</a:t>
            </a:r>
          </a:p>
          <a:p>
            <a:r>
              <a:rPr lang="en-US" sz="1400" dirty="0">
                <a:solidFill>
                  <a:srgbClr val="0D4F4A"/>
                </a:solidFill>
              </a:rPr>
              <a:t>/products/desk-set</a:t>
            </a:r>
          </a:p>
          <a:p>
            <a:r>
              <a:rPr lang="en-US" sz="1400" dirty="0">
                <a:solidFill>
                  <a:srgbClr val="0D4F4A"/>
                </a:solidFill>
              </a:rPr>
              <a:t>/products/nature-poster</a:t>
            </a:r>
          </a:p>
          <a:p>
            <a:endParaRPr lang="en-US" sz="1400" dirty="0">
              <a:solidFill>
                <a:srgbClr val="0D4F4A"/>
              </a:solidFill>
            </a:endParaRPr>
          </a:p>
          <a:p>
            <a:endParaRPr lang="en-US" sz="1400" dirty="0">
              <a:solidFill>
                <a:srgbClr val="0D4F4A"/>
              </a:solidFill>
            </a:endParaRPr>
          </a:p>
          <a:p>
            <a:r>
              <a:rPr lang="en-US" sz="1400" dirty="0"/>
              <a:t>[id] = URL</a:t>
            </a:r>
            <a:r>
              <a:rPr lang="ja-JP" altLang="en-US" sz="1400"/>
              <a:t>から受け取る変数</a:t>
            </a:r>
          </a:p>
          <a:p>
            <a:r>
              <a:rPr lang="en-US" sz="1400" dirty="0" err="1"/>
              <a:t>params.id</a:t>
            </a:r>
            <a:r>
              <a:rPr lang="en-US" sz="1400" dirty="0"/>
              <a:t> = </a:t>
            </a:r>
            <a:r>
              <a:rPr lang="ja-JP" altLang="en-US" sz="1400"/>
              <a:t>実際に</a:t>
            </a:r>
            <a:r>
              <a:rPr lang="en-US" sz="1400" dirty="0"/>
              <a:t>URL</a:t>
            </a:r>
            <a:r>
              <a:rPr lang="ja-JP" altLang="en-US" sz="1400"/>
              <a:t>に入っていた値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6535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ハンズオン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4F4A"/>
                </a:solidFill>
              </a:rPr>
              <a:t>Phase 1 〜 6 を順番に進めよう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457200" y="1527048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sz="1200" b="1">
                <a:solidFill>
                  <a:srgbClr val="0D4F4A"/>
                </a:solidFill>
              </a:rPr>
              <a:t>型とデータを読む・追加する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801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product.ts</a:t>
            </a: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 err="1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937760" y="1527048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52704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13248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0D4F4A"/>
                </a:solidFill>
              </a:rPr>
              <a:t>ProductCard</a:t>
            </a:r>
            <a:r>
              <a:rPr lang="en-US" sz="1200" b="1" dirty="0">
                <a:solidFill>
                  <a:srgbClr val="0D4F4A"/>
                </a:solidFill>
              </a:rPr>
              <a:t> </a:t>
            </a:r>
            <a:r>
              <a:rPr lang="ja-JP" altLang="en-US" sz="1200" b="1">
                <a:solidFill>
                  <a:srgbClr val="0D4F4A"/>
                </a:solidFill>
              </a:rPr>
              <a:t>を完成させる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13248" y="1801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sz="10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説明・価格・評価・在庫を表示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67712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D4F4A"/>
                </a:solidFill>
              </a:rPr>
              <a:t>map </a:t>
            </a:r>
            <a:r>
              <a:rPr lang="ja-JP" altLang="en-US" sz="1200" b="1">
                <a:solidFill>
                  <a:srgbClr val="0D4F4A"/>
                </a:solidFill>
              </a:rPr>
              <a:t>で一覧表示する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651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ProductList.tsx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267712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937760" y="2377440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937760" y="237744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13248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0D4F4A"/>
                </a:solidFill>
              </a:rPr>
              <a:t>useState</a:t>
            </a:r>
            <a:r>
              <a:rPr lang="en-US" sz="1200" b="1" dirty="0">
                <a:solidFill>
                  <a:srgbClr val="0D4F4A"/>
                </a:solidFill>
              </a:rPr>
              <a:t> </a:t>
            </a:r>
            <a:r>
              <a:rPr lang="ja-JP" altLang="en-US" sz="1200" b="1">
                <a:solidFill>
                  <a:srgbClr val="0D4F4A"/>
                </a:solidFill>
              </a:rPr>
              <a:t>を確認する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6746" y="2660904"/>
            <a:ext cx="37972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searchTerm</a:t>
            </a: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r>
              <a:rPr lang="en-US" sz="1000" dirty="0" err="1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selectedCategory</a:t>
            </a: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r>
              <a:rPr lang="en-US" sz="1000" dirty="0" err="1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filteredProducts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18104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227832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22783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" y="3209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err="1">
                <a:solidFill>
                  <a:srgbClr val="0D4F4A"/>
                </a:solidFill>
              </a:rPr>
              <a:t>useEffect</a:t>
            </a:r>
            <a:r>
              <a:rPr lang="en-US" sz="1200" b="1" dirty="0">
                <a:solidFill>
                  <a:srgbClr val="0D4F4A"/>
                </a:solidFill>
              </a:rPr>
              <a:t> </a:t>
            </a:r>
            <a:r>
              <a:rPr lang="ja-JP" altLang="en-US" sz="1200" b="1">
                <a:solidFill>
                  <a:srgbClr val="0D4F4A"/>
                </a:solidFill>
              </a:rPr>
              <a:t>で絞り込みを動かす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3502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productFilters.ts</a:t>
            </a: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 err="1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118104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9"/>
          <p:cNvSpPr/>
          <p:nvPr/>
        </p:nvSpPr>
        <p:spPr>
          <a:xfrm>
            <a:off x="4937760" y="3227832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4937760" y="322783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13248" y="32095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sz="1200" b="1">
                <a:solidFill>
                  <a:srgbClr val="0D4F4A"/>
                </a:solidFill>
              </a:rPr>
              <a:t>詳細ページを完成させる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3248" y="3502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products/[id]/</a:t>
            </a:r>
            <a:r>
              <a:rPr lang="en-US" sz="1000" dirty="0" err="1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07822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18 / 18</a:t>
            </a:r>
            <a:endParaRPr lang="en-US" sz="1000" dirty="0"/>
          </a:p>
        </p:txBody>
      </p:sp>
      <p:sp>
        <p:nvSpPr>
          <p:cNvPr id="46" name="Shape 23">
            <a:extLst>
              <a:ext uri="{FF2B5EF4-FFF2-40B4-BE49-F238E27FC236}">
                <a16:creationId xmlns:a16="http://schemas.microsoft.com/office/drawing/2014/main" id="{E5A56DD8-79C6-D069-BF45-44F1B79C3A56}"/>
              </a:ext>
            </a:extLst>
          </p:cNvPr>
          <p:cNvSpPr/>
          <p:nvPr/>
        </p:nvSpPr>
        <p:spPr>
          <a:xfrm>
            <a:off x="2743200" y="409194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24">
            <a:extLst>
              <a:ext uri="{FF2B5EF4-FFF2-40B4-BE49-F238E27FC236}">
                <a16:creationId xmlns:a16="http://schemas.microsoft.com/office/drawing/2014/main" id="{472FAA1A-7822-5C66-7179-1095619B2839}"/>
              </a:ext>
            </a:extLst>
          </p:cNvPr>
          <p:cNvSpPr/>
          <p:nvPr/>
        </p:nvSpPr>
        <p:spPr>
          <a:xfrm>
            <a:off x="2834640" y="4201668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r>
              <a:rPr lang="ja-JP" altLang="en-US" sz="800">
                <a:solidFill>
                  <a:schemeClr val="bg1"/>
                </a:solidFill>
              </a:rPr>
              <a:t>番外編</a:t>
            </a:r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884E4F94-9EC2-A30D-C0E0-63C63B1806FF}"/>
              </a:ext>
            </a:extLst>
          </p:cNvPr>
          <p:cNvSpPr/>
          <p:nvPr/>
        </p:nvSpPr>
        <p:spPr>
          <a:xfrm>
            <a:off x="3310128" y="41833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sz="1200" b="1">
                <a:solidFill>
                  <a:srgbClr val="0D4F4A"/>
                </a:solidFill>
              </a:rPr>
              <a:t>カートとお気に入り</a:t>
            </a:r>
            <a:endParaRPr lang="en-US" sz="1200" dirty="0"/>
          </a:p>
        </p:txBody>
      </p:sp>
      <p:sp>
        <p:nvSpPr>
          <p:cNvPr id="49" name="Text 27">
            <a:extLst>
              <a:ext uri="{FF2B5EF4-FFF2-40B4-BE49-F238E27FC236}">
                <a16:creationId xmlns:a16="http://schemas.microsoft.com/office/drawing/2014/main" id="{615D18BB-0634-F119-29E9-6CB19CB6D6D2}"/>
              </a:ext>
            </a:extLst>
          </p:cNvPr>
          <p:cNvSpPr/>
          <p:nvPr/>
        </p:nvSpPr>
        <p:spPr>
          <a:xfrm>
            <a:off x="3310128" y="44759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en-US" sz="10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配列 </a:t>
            </a: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</a:t>
            </a:r>
            <a:r>
              <a:rPr lang="ja-JP" altLang="en-US" sz="10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と </a:t>
            </a:r>
            <a:r>
              <a:rPr lang="en-US" sz="1000" dirty="0" err="1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</a:t>
            </a: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ja-JP" altLang="en-US" sz="100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を読む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4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F766E">
              <a:alpha val="20000"/>
            </a:srgbClr>
          </a:solidFill>
          <a:ln w="12700">
            <a:solidFill>
              <a:srgbClr val="0F766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4B8A6"/>
                </a:solidFill>
              </a:rPr>
              <a:t>覚えること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この3つ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94360" y="20482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Component + Props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</a:rPr>
              <a:t>部品に分けてデータを流す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94360" y="29626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962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useState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</a:rPr>
              <a:t>値を覚えて、変えたら再描画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6858000" cy="777240"/>
          </a:xfrm>
          <a:prstGeom prst="roundRect">
            <a:avLst>
              <a:gd name="adj" fmla="val 11765"/>
            </a:avLst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94360" y="387705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3877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useEffect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206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FBF1"/>
                </a:solidFill>
              </a:rPr>
              <a:t>状態変化に反応して処理を走らせる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</a:rPr>
              <a:t>詰まったら complete ブランチで答え合わせ 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1610</TotalTime>
  <Words>1584</Words>
  <Application>Microsoft Macintosh PowerPoint</Application>
  <PresentationFormat>画面に合わせる (16:9)</PresentationFormat>
  <Paragraphs>434</Paragraphs>
  <Slides>19</Slides>
  <Notes>19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KCL Shop - フロントエンド入門</dc:title>
  <dc:subject>PptxGenJS Presentation</dc:subject>
  <dc:creator>PptxGenJS</dc:creator>
  <cp:lastModifiedBy>KAKIUCHI Hinata</cp:lastModifiedBy>
  <cp:revision>5</cp:revision>
  <cp:lastPrinted>2026-06-13T03:09:44Z</cp:lastPrinted>
  <dcterms:created xsi:type="dcterms:W3CDTF">2026-06-12T06:37:51Z</dcterms:created>
  <dcterms:modified xsi:type="dcterms:W3CDTF">2026-06-13T17:26:45Z</dcterms:modified>
</cp:coreProperties>
</file>